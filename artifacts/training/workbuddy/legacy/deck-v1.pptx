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28e5475834336" /><Relationship Type="http://schemas.openxmlformats.org/officeDocument/2006/relationships/extended-properties" Target="/docProps/app.xml" Id="R68aff68e85e34ce3" /><Relationship Type="http://schemas.openxmlformats.org/officeDocument/2006/relationships/officeDocument" Target="/ppt/presentation.xml" Id="Rb3cfa4849aac4f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fb2cb55bb748ce"/>
  </p:sldMasterIdLst>
  <p:notesMasterIdLst>
    <p:notesMasterId xmlns:r="http://schemas.openxmlformats.org/officeDocument/2006/relationships" r:id="Rc4a8690bbb1e45c5"/>
  </p:notesMasterIdLst>
  <p:sldIdLst>
    <p:sldId xmlns:r="http://schemas.openxmlformats.org/officeDocument/2006/relationships" id="256" r:id="Rd2046825435143e4"/>
    <p:sldId xmlns:r="http://schemas.openxmlformats.org/officeDocument/2006/relationships" id="257" r:id="R4502ce6f8fc94ec6"/>
    <p:sldId xmlns:r="http://schemas.openxmlformats.org/officeDocument/2006/relationships" id="258" r:id="Rd1e790f032e7449c"/>
    <p:sldId xmlns:r="http://schemas.openxmlformats.org/officeDocument/2006/relationships" id="259" r:id="R04f32d4cabe440fc"/>
    <p:sldId xmlns:r="http://schemas.openxmlformats.org/officeDocument/2006/relationships" id="260" r:id="Rbad93065ba994200"/>
    <p:sldId xmlns:r="http://schemas.openxmlformats.org/officeDocument/2006/relationships" id="261" r:id="Rcc29b2e70c97470f"/>
    <p:sldId xmlns:r="http://schemas.openxmlformats.org/officeDocument/2006/relationships" id="262" r:id="Rbf07847db2b1442e"/>
    <p:sldId xmlns:r="http://schemas.openxmlformats.org/officeDocument/2006/relationships" id="263" r:id="R9e0eddc32d4c4e3a"/>
    <p:sldId xmlns:r="http://schemas.openxmlformats.org/officeDocument/2006/relationships" id="264" r:id="R36d067a6e2b9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8ae93a3e0f4f2b" /><Relationship Type="http://schemas.openxmlformats.org/officeDocument/2006/relationships/slideMaster" Target="/ppt/slideMasters/slideMaster1.xml" Id="R3efb2cb55bb748ce" /><Relationship Type="http://schemas.openxmlformats.org/officeDocument/2006/relationships/notesMaster" Target="/ppt/notesMasters/notesMaster1.xml" Id="Rc4a8690bbb1e45c5" /><Relationship Type="http://schemas.openxmlformats.org/officeDocument/2006/relationships/presProps" Target="/ppt/presProps.xml" Id="R668a62b1f4a04339" /><Relationship Type="http://schemas.openxmlformats.org/officeDocument/2006/relationships/tableStyles" Target="/ppt/tableStyles.xml" Id="R87cf1dc8197a4298" /><Relationship Type="http://schemas.openxmlformats.org/officeDocument/2006/relationships/slide" Target="/ppt/slides/slide1.xml" Id="Rd2046825435143e4" /><Relationship Type="http://schemas.openxmlformats.org/officeDocument/2006/relationships/slide" Target="/ppt/slides/slide2.xml" Id="R4502ce6f8fc94ec6" /><Relationship Type="http://schemas.openxmlformats.org/officeDocument/2006/relationships/slide" Target="/ppt/slides/slide3.xml" Id="Rd1e790f032e7449c" /><Relationship Type="http://schemas.openxmlformats.org/officeDocument/2006/relationships/slide" Target="/ppt/slides/slide4.xml" Id="R04f32d4cabe440fc" /><Relationship Type="http://schemas.openxmlformats.org/officeDocument/2006/relationships/slide" Target="/ppt/slides/slide5.xml" Id="Rbad93065ba994200" /><Relationship Type="http://schemas.openxmlformats.org/officeDocument/2006/relationships/slide" Target="/ppt/slides/slide6.xml" Id="Rcc29b2e70c97470f" /><Relationship Type="http://schemas.openxmlformats.org/officeDocument/2006/relationships/slide" Target="/ppt/slides/slide7.xml" Id="Rbf07847db2b1442e" /><Relationship Type="http://schemas.openxmlformats.org/officeDocument/2006/relationships/slide" Target="/ppt/slides/slide8.xml" Id="R9e0eddc32d4c4e3a" /><Relationship Type="http://schemas.openxmlformats.org/officeDocument/2006/relationships/slide" Target="/ppt/slides/slide9.xml" Id="R36d067a6e2b9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3c182beee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29164c9bc34d33" /><Relationship Type="http://schemas.openxmlformats.org/officeDocument/2006/relationships/notesMaster" Target="/ppt/notesMasters/notesMaster1.xml" Id="R1783e0d83c5941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6d2b26a7fb47d8" /><Relationship Type="http://schemas.openxmlformats.org/officeDocument/2006/relationships/notesMaster" Target="/ppt/notesMasters/notesMaster1.xml" Id="R1f65fb460a794b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f09e1c9f5a4822" /><Relationship Type="http://schemas.openxmlformats.org/officeDocument/2006/relationships/notesMaster" Target="/ppt/notesMasters/notesMaster1.xml" Id="R3d9738b72d21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ec0e6200764a9c" /><Relationship Type="http://schemas.openxmlformats.org/officeDocument/2006/relationships/notesMaster" Target="/ppt/notesMasters/notesMaster1.xml" Id="R69addef9eac8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27676313224b6a" /><Relationship Type="http://schemas.openxmlformats.org/officeDocument/2006/relationships/notesMaster" Target="/ppt/notesMasters/notesMaster1.xml" Id="R9f45fb842ada49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61fbc038ff4184" /><Relationship Type="http://schemas.openxmlformats.org/officeDocument/2006/relationships/notesMaster" Target="/ppt/notesMasters/notesMaster1.xml" Id="Rdd26ea24794e41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b639d0f2f84444" /><Relationship Type="http://schemas.openxmlformats.org/officeDocument/2006/relationships/notesMaster" Target="/ppt/notesMasters/notesMaster1.xml" Id="Rabf42366dffc4f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a923687cda4ba5" /><Relationship Type="http://schemas.openxmlformats.org/officeDocument/2006/relationships/notesMaster" Target="/ppt/notesMasters/notesMaster1.xml" Id="R824be3d44a064c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9cbacccb134be8" /><Relationship Type="http://schemas.openxmlformats.org/officeDocument/2006/relationships/notesMaster" Target="/ppt/notesMasters/notesMaster1.xml" Id="R64963e09e89b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今天用大约30分钟认识AI工作软件。我们不讲复杂算法，也不罗列大量产品，而是借助WorkBuddy完成一个实际办公任务，理解大模型、AI应用、上下文、工具、智能体、验证与授权六个概念。理解这些概念后，换成其他办公AI或研发AI工具，也能看懂它们怎样工作、怎样使用、哪里需要人工把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最早接触AI，通常是在聊天框中提问并得到一段文字。后来AI进入文档、表格、设计和开发软件，帮助完成其中某一步。现在又出现智能体软件：我们不只是问一个问题，而是提供目标和材料，让它规划步骤、处理文件、生成产物。今天要理解的，就是从回答问题到交付结果背后的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可以理解为AI软件中的通用能力引擎，但它不是完整软件。WorkBuddy是AI应用：除了模型，还需要任务界面、文件处理、工具管理和结果展示。上下文则是当前任务真正给到模型的信息，例如任务要求、上传的表格、公司模板和工具执行结果。AI没有获得一份材料，不代表它会自动知道这份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模型主要负责理解、生成和判断，不会天然操作我们的文件和办公软件。工具是AI应用暴露的外部能力。智能体则在目标、规则和权限范围内，反复使用模型和工具完成任务。需要特别区分：模型提出调用工具的意图，不等于它已经拥有执行权限。授权解决能不能做，验证解决做得对不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流程从人提出任务开始。应用把任务、文件和规则组成上下文，大模型判断下一步；需要操作时由系统检查权限并执行工具；工具结果再返回模型，模型继续调整。最终产物还要经过规则或人工验证。这个判断、行动、观察、再判断的过程，就是Agent Loop。它不是无限运行，而应该有目标、权限、预算和终止条件。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现场演示步骤：</a:t>
            </a:r>
          </a:p>
          <a:p xmlns:a="http://schemas.openxmlformats.org/drawingml/2006/main">
            <a:r>
              <a:t>1. 上传“AI培训报名统计.xlsx”和“AI培训需求访谈记录.docx”。</a:t>
            </a:r>
          </a:p>
          <a:p xmlns:a="http://schemas.openxmlformats.org/drawingml/2006/main">
            <a:r>
              <a:t>2. 输入任务：请统计各部门报名人数，总结最关注的三个问题，提出培训建议，并生成5页以内的汇报PPT。不要补充材料中没有的事实，无法确认的信息标记为“待确认”，最后列出使用材料和人工检查项。请先给处理计划，等我确认后再执行。</a:t>
            </a:r>
          </a:p>
          <a:p xmlns:a="http://schemas.openxmlformats.org/drawingml/2006/main">
            <a:r>
              <a:t>3. 在计划阶段停下来，请现场同事判断是否遗漏。</a:t>
            </a:r>
          </a:p>
          <a:p xmlns:a="http://schemas.openxmlformats.org/drawingml/2006/main">
            <a:r>
              <a:t>4. 允许执行后，观察它读取文件、分析数据、生成产物和根据结果调整。</a:t>
            </a:r>
          </a:p>
          <a:p xmlns:a="http://schemas.openxmlformats.org/drawingml/2006/main">
            <a:r>
              <a:t>5. 打开PPT，核对三个预设事实：研发报名8人；数据安全为首要关注；培训建议能在访谈中找到依据。</a:t>
            </a:r>
          </a:p>
          <a:p xmlns:a="http://schemas.openxmlformats.org/drawingml/2006/main">
            <a:r>
              <a:t>6. 强调：产物生成不等于产物正确，必须回到原始材料和验收标准。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https://www.workbuddy.cn/docs/workbuddy/Overview（官方简介：自主规划执行、文档/表格/PPT/数据分析、本地授权文件处理、结果查看）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虽然演示的是培训分析，但同样的结构可以迁移到其他岗位。文档工作的材料可能是会议记录，数据工作的材料可能是表格和指标口径，研发工作的材料可能是代码和日志。共同结构都是：给目标、提供上下文、授权工具、智能体执行、人工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智能体，不只是追求高级提示词，而是学习定义一个清晰、可执行、可验收的任务。对于简单任务不必写得很长；但任务越复杂、风险越高，就越应该说清目标、材料、约束、权限、产物、验收标准和人工确认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带走五句话：大模型是能力引擎；上下文决定它当前能看到什么；工具让回答走向行动；循环让任务持续推进；人负责目标、权限和最终验收。后续可以再分别展开WorkBuddy实操、办公任务设计、智能体原理和企业数据安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0b89a2fdc45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49bbfe62c4664" /><Relationship Type="http://schemas.openxmlformats.org/officeDocument/2006/relationships/slideLayout" Target="/ppt/slideLayouts/slideLayout1.xml" Id="Rcbd983f9706b4e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d983f9706b4e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bd1de099e401c" /><Relationship Type="http://schemas.openxmlformats.org/officeDocument/2006/relationships/notesSlide" Target="/ppt/notesSlides/notesSlide1.xml" Id="Re63e67be669340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89b55aa1d469a" /><Relationship Type="http://schemas.openxmlformats.org/officeDocument/2006/relationships/notesSlide" Target="/ppt/notesSlides/notesSlide2.xml" Id="R86f83038b91f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213a167a34a97" /><Relationship Type="http://schemas.openxmlformats.org/officeDocument/2006/relationships/notesSlide" Target="/ppt/notesSlides/notesSlide3.xml" Id="R0095d76d3a3e48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ba63cb2d149cd" /><Relationship Type="http://schemas.openxmlformats.org/officeDocument/2006/relationships/notesSlide" Target="/ppt/notesSlides/notesSlide4.xml" Id="Rfe023df08d524e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1510a55d242a3" /><Relationship Type="http://schemas.openxmlformats.org/officeDocument/2006/relationships/notesSlide" Target="/ppt/notesSlides/notesSlide5.xml" Id="Ra1f9081d1dd54d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92562001d4b74" /><Relationship Type="http://schemas.openxmlformats.org/officeDocument/2006/relationships/notesSlide" Target="/ppt/notesSlides/notesSlide6.xml" Id="R1744dde3faef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fef870e484eff" /><Relationship Type="http://schemas.openxmlformats.org/officeDocument/2006/relationships/notesSlide" Target="/ppt/notesSlides/notesSlide7.xml" Id="Rba030fcc61fa43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a3cf8b81145f6" /><Relationship Type="http://schemas.openxmlformats.org/officeDocument/2006/relationships/notesSlide" Target="/ppt/notesSlides/notesSlide8.xml" Id="Rb48ede9ec66e4e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5f4a349bc48e9" /><Relationship Type="http://schemas.openxmlformats.org/officeDocument/2006/relationships/notesSlide" Target="/ppt/notesSlides/notesSlide9.xml" Id="Rc04617ace5e7486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6FBCE87-E392-4D02-BE58-6A0B4B9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从大模型
到智能体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76411C6-9456-494E-8A02-45312FFE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以 WorkBuddy 为例 · 6 个基本概念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4F9703F-4756-40E5-BD59-E6B485AD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工作软件初识</a:t>
            </a:r>
          </a:p>
        </p:txBody>
      </p:sp>
    </p:spTree>
    <p:extLst>
      <p:ext uri="{BB962C8B-B14F-4D97-AF65-F5344CB8AC3E}">
        <p14:creationId xmlns:p14="http://schemas.microsoft.com/office/powerpoint/2010/main" val="2985953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843F862-5492-4DC5-9AA7-1D40247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4DD4885-BDC9-4B21-AE74-32D79A1C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软件正在从“回答问题”走向“交付结果”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50EFA64-50A7-4C86-BE94-D4502F59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C7E9B5F-A876-4BCF-8CD7-221C30AB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8F1343B2-75BA-42AE-829D-16E82FC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CEDDDA2B-B1B6-4EA1-BAC8-E17D6F63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8F99D86-24FD-49AD-B0BC-2F568835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10353F1-DD76-4FD2-8EEE-79C37E20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DD137B52-A647-4E7D-8DF0-1CED498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专业助手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嵌入工作软件
协助完成某一步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8033CC31-56BB-40D5-9ED1-9B419605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聊天问答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我问，它答
交付一段内容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61637EC-7173-46D1-9B84-B1F03A51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智能体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我给目标
它执行，我验收</a:t>
            </a:r>
          </a:p>
        </p:txBody>
      </p:sp>
    </p:spTree>
    <p:extLst>
      <p:ext uri="{BB962C8B-B14F-4D97-AF65-F5344CB8AC3E}">
        <p14:creationId xmlns:p14="http://schemas.microsoft.com/office/powerpoint/2010/main" val="10773091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85DCE8F-B9D5-41C5-8B4F-C1FDAB5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8F3CF81-5606-431D-9E5A-D88E3DAF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先分清：模型、应用与上下文不是一回事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86AA98A-46BF-4D39-B86A-11CF5A9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13714A1-58E5-43CB-B2A6-34D3EDF3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7EDCFD1A-BE31-4883-9CDF-89122725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62DA08B-91D5-4C41-A7BC-BC55A305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B2B9612-7A29-4790-BCAF-3C4BF1B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大模型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理解、生成和判断的通用能力引擎。
擅长生成，不代表事实已经验证。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8D6A1E2-817D-4712-8003-D04C1B51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530C7C0-1BCC-423A-B38E-F5FD85ED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AI 应用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把模型、界面、规则、数据和工具组合起来的软件。
WorkBuddy 属于 AI 应用。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D7D29A7-3180-410D-B987-B85F5B8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B9A60D42-C05F-40EA-8B38-6D682F4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上下文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当前任务真正提供给模型的信息。
任务、文件、规则和执行结果都可能成为上下文。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E2D4F62-922E-4242-A8CA-CC4D6A8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产品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17E02B1D-7FFE-46EA-9ECB-725F3230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能力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865E3C17-879C-4C1D-B44C-B917C43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</a:t>
            </a:r>
          </a:p>
        </p:txBody>
      </p:sp>
    </p:spTree>
    <p:extLst>
      <p:ext uri="{BB962C8B-B14F-4D97-AF65-F5344CB8AC3E}">
        <p14:creationId xmlns:p14="http://schemas.microsoft.com/office/powerpoint/2010/main" val="5335077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44EB9C0-8642-4BD9-91EE-94E31BEF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AC91146-5A5B-424B-8693-D114D6AE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工具让模型行动，循环让任务持续，验证让结果可信</a:t>
            </a:r>
          </a:p>
        </p:txBody>
      </p:sp>
      <p:sp>
        <p:nvSpPr>
          <p:cNvPr id="3" name="Google-Shape-558-p61-4">
            <a:extLst xmlns:a="http://schemas.openxmlformats.org/drawingml/2006/main">
              <a:ext uri="{FF2B5EF4-FFF2-40B4-BE49-F238E27FC236}">
                <a16:creationId xmlns:a16="http://schemas.microsoft.com/office/drawing/2014/main" id="{A512D9D6-87BC-4760-9516-FEAABEA3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工具
软件提供的可调用能力
读取文件、分析表格、生成产物</a:t>
            </a:r>
          </a:p>
        </p:txBody>
      </p:sp>
      <p:sp>
        <p:nvSpPr>
          <p:cNvPr id="4" name="Google-Shape-559-p61-5">
            <a:extLst xmlns:a="http://schemas.openxmlformats.org/drawingml/2006/main">
              <a:ext uri="{FF2B5EF4-FFF2-40B4-BE49-F238E27FC236}">
                <a16:creationId xmlns:a16="http://schemas.microsoft.com/office/drawing/2014/main" id="{F377E1BE-C265-4A9D-8109-56E51445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968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智能体
围绕目标连续判断和执行
直到完成或需要人工介入</a:t>
            </a:r>
          </a:p>
        </p:txBody>
      </p:sp>
      <p:sp>
        <p:nvSpPr>
          <p:cNvPr id="5" name="Google-Shape-560-p61-6">
            <a:extLst xmlns:a="http://schemas.openxmlformats.org/drawingml/2006/main">
              <a:ext uri="{FF2B5EF4-FFF2-40B4-BE49-F238E27FC236}">
                <a16:creationId xmlns:a16="http://schemas.microsoft.com/office/drawing/2014/main" id="{F6DF3DBA-97DE-4D48-8129-C7ABAC37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4013168"/>
            <a:ext cx="3568732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验证与授权
授权决定“能不能做”
验证判断“做得对不对”</a:t>
            </a:r>
          </a:p>
        </p:txBody>
      </p:sp>
      <p:sp>
        <p:nvSpPr>
          <p:cNvPr id="6" name="Google-Shape-561-p61-7">
            <a:extLst xmlns:a="http://schemas.openxmlformats.org/drawingml/2006/main">
              <a:ext uri="{FF2B5EF4-FFF2-40B4-BE49-F238E27FC236}">
                <a16:creationId xmlns:a16="http://schemas.microsoft.com/office/drawing/2014/main" id="{C06F3633-0DD9-45A9-857F-9305F03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868" y="3382328"/>
            <a:ext cx="315563" cy="353854"/>
          </a:xfrm>
          <a:custGeom xmlns:a="http://schemas.openxmlformats.org/drawingml/2006/main">
            <a:pathLst>
              <a:path w="192747900" h="191595375">
                <a:moveTo>
                  <a:pt x="107661075" y="24707850"/>
                </a:moveTo>
                <a:lnTo>
                  <a:pt x="20716875" y="114138075"/>
                </a:lnTo>
                <a:lnTo>
                  <a:pt x="86039325" y="114138075"/>
                </a:lnTo>
                <a:cubicBezTo>
                  <a:pt x="89192100" y="114138075"/>
                  <a:pt x="92182950" y="115423950"/>
                  <a:pt x="94135575" y="117614700"/>
                </a:cubicBezTo>
                <a:cubicBezTo>
                  <a:pt x="96097725" y="119814975"/>
                  <a:pt x="96821625" y="122682000"/>
                  <a:pt x="96097725" y="125406150"/>
                </a:cubicBezTo>
                <a:lnTo>
                  <a:pt x="85086825" y="166897050"/>
                </a:lnTo>
                <a:lnTo>
                  <a:pt x="172031025" y="77466825"/>
                </a:lnTo>
                <a:lnTo>
                  <a:pt x="106708575" y="77466825"/>
                </a:lnTo>
                <a:cubicBezTo>
                  <a:pt x="103555800" y="77466825"/>
                  <a:pt x="100564950" y="76190475"/>
                  <a:pt x="98612325" y="73990200"/>
                </a:cubicBezTo>
                <a:cubicBezTo>
                  <a:pt x="96650175" y="71789925"/>
                  <a:pt x="95926275" y="68922900"/>
                  <a:pt x="96650175" y="66198750"/>
                </a:cubicBezTo>
                <a:lnTo>
                  <a:pt x="107661075" y="24707850"/>
                </a:lnTo>
                <a:close/>
                <a:moveTo>
                  <a:pt x="98888550" y="5648325"/>
                </a:moveTo>
                <a:cubicBezTo>
                  <a:pt x="111242475" y="-7067550"/>
                  <a:pt x="134540625" y="3457575"/>
                  <a:pt x="130206750" y="19792950"/>
                </a:cubicBezTo>
                <a:lnTo>
                  <a:pt x="119767350" y="59131200"/>
                </a:lnTo>
                <a:lnTo>
                  <a:pt x="172031025" y="59131200"/>
                </a:lnTo>
                <a:cubicBezTo>
                  <a:pt x="189718950" y="59131200"/>
                  <a:pt x="199243950" y="77552550"/>
                  <a:pt x="187690125" y="89439750"/>
                </a:cubicBezTo>
                <a:lnTo>
                  <a:pt x="93859350" y="185956575"/>
                </a:lnTo>
                <a:cubicBezTo>
                  <a:pt x="81505425" y="198672450"/>
                  <a:pt x="58207275" y="188147325"/>
                  <a:pt x="62541150" y="171811950"/>
                </a:cubicBezTo>
                <a:lnTo>
                  <a:pt x="72980550" y="132473700"/>
                </a:lnTo>
                <a:lnTo>
                  <a:pt x="20716875" y="132473700"/>
                </a:lnTo>
                <a:cubicBezTo>
                  <a:pt x="3028950" y="132473700"/>
                  <a:pt x="-6496050" y="114052350"/>
                  <a:pt x="5057775" y="102165150"/>
                </a:cubicBezTo>
                <a:lnTo>
                  <a:pt x="98888550" y="56483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7" name="Google-Shape-562-p61-8">
            <a:extLst xmlns:a="http://schemas.openxmlformats.org/drawingml/2006/main">
              <a:ext uri="{FF2B5EF4-FFF2-40B4-BE49-F238E27FC236}">
                <a16:creationId xmlns:a16="http://schemas.microsoft.com/office/drawing/2014/main" id="{39E05AAB-FF6A-4E08-AD36-012AB6D9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84" y="3378232"/>
            <a:ext cx="327089" cy="362045"/>
          </a:xfrm>
          <a:custGeom xmlns:a="http://schemas.openxmlformats.org/drawingml/2006/main">
            <a:pathLst>
              <a:path w="205740000" h="203196825">
                <a:moveTo>
                  <a:pt x="108194475" y="20288250"/>
                </a:moveTo>
                <a:cubicBezTo>
                  <a:pt x="104908350" y="18583275"/>
                  <a:pt x="100850700" y="18583275"/>
                  <a:pt x="97545525" y="20288250"/>
                </a:cubicBezTo>
                <a:lnTo>
                  <a:pt x="30956250" y="54597300"/>
                </a:lnTo>
                <a:lnTo>
                  <a:pt x="103031925" y="90773250"/>
                </a:lnTo>
                <a:lnTo>
                  <a:pt x="177098325" y="55778400"/>
                </a:lnTo>
                <a:lnTo>
                  <a:pt x="108194475" y="20288250"/>
                </a:lnTo>
                <a:close/>
                <a:moveTo>
                  <a:pt x="184442100" y="73809225"/>
                </a:moveTo>
                <a:lnTo>
                  <a:pt x="113518950" y="107318175"/>
                </a:lnTo>
                <a:lnTo>
                  <a:pt x="113518950" y="180174900"/>
                </a:lnTo>
                <a:lnTo>
                  <a:pt x="179117625" y="146370675"/>
                </a:lnTo>
                <a:cubicBezTo>
                  <a:pt x="182422800" y="144675225"/>
                  <a:pt x="184442100" y="141541500"/>
                  <a:pt x="184442100" y="138141075"/>
                </a:cubicBezTo>
                <a:lnTo>
                  <a:pt x="184442100" y="73809225"/>
                </a:lnTo>
                <a:close/>
                <a:moveTo>
                  <a:pt x="92221050" y="180174900"/>
                </a:moveTo>
                <a:lnTo>
                  <a:pt x="92221050" y="107156250"/>
                </a:lnTo>
                <a:lnTo>
                  <a:pt x="21297900" y="71561325"/>
                </a:lnTo>
                <a:lnTo>
                  <a:pt x="21297900" y="138141075"/>
                </a:lnTo>
                <a:cubicBezTo>
                  <a:pt x="21297900" y="141541500"/>
                  <a:pt x="23317200" y="144675225"/>
                  <a:pt x="26622375" y="146370675"/>
                </a:cubicBezTo>
                <a:lnTo>
                  <a:pt x="92221050" y="180174900"/>
                </a:lnTo>
                <a:close/>
                <a:moveTo>
                  <a:pt x="86896575" y="3819525"/>
                </a:moveTo>
                <a:cubicBezTo>
                  <a:pt x="96774000" y="-1266825"/>
                  <a:pt x="108966000" y="-1266825"/>
                  <a:pt x="118843425" y="3819525"/>
                </a:cubicBezTo>
                <a:lnTo>
                  <a:pt x="189766575" y="40366950"/>
                </a:lnTo>
                <a:cubicBezTo>
                  <a:pt x="199663050" y="45462825"/>
                  <a:pt x="205740000" y="54873525"/>
                  <a:pt x="205740000" y="65055750"/>
                </a:cubicBezTo>
                <a:lnTo>
                  <a:pt x="205740000" y="138141075"/>
                </a:lnTo>
                <a:cubicBezTo>
                  <a:pt x="205740000" y="148323300"/>
                  <a:pt x="199663050" y="157743525"/>
                  <a:pt x="189766575" y="162839400"/>
                </a:cubicBezTo>
                <a:lnTo>
                  <a:pt x="118843425" y="199377300"/>
                </a:lnTo>
                <a:cubicBezTo>
                  <a:pt x="108966000" y="204473175"/>
                  <a:pt x="96774000" y="204473175"/>
                  <a:pt x="86896575" y="199377300"/>
                </a:cubicBezTo>
                <a:lnTo>
                  <a:pt x="15973425" y="162839400"/>
                </a:lnTo>
                <a:cubicBezTo>
                  <a:pt x="6096000" y="157743525"/>
                  <a:pt x="0" y="148323300"/>
                  <a:pt x="0" y="138141075"/>
                </a:cubicBezTo>
                <a:lnTo>
                  <a:pt x="0" y="65055750"/>
                </a:lnTo>
                <a:cubicBezTo>
                  <a:pt x="0" y="54873525"/>
                  <a:pt x="6096000" y="45462825"/>
                  <a:pt x="15973425" y="40366950"/>
                </a:cubicBezTo>
                <a:lnTo>
                  <a:pt x="86896575" y="38195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563-p61-9">
            <a:extLst xmlns:a="http://schemas.openxmlformats.org/drawingml/2006/main">
              <a:ext uri="{FF2B5EF4-FFF2-40B4-BE49-F238E27FC236}">
                <a16:creationId xmlns:a16="http://schemas.microsoft.com/office/drawing/2014/main" id="{C7272E54-3434-4FE5-8C9E-848E58FD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600" y="3406807"/>
            <a:ext cx="338614" cy="270891"/>
          </a:xfrm>
          <a:custGeom xmlns:a="http://schemas.openxmlformats.org/drawingml/2006/main">
            <a:pathLst>
              <a:path w="205740000" h="205740000">
                <a:moveTo>
                  <a:pt x="59245500" y="0"/>
                </a:moveTo>
                <a:lnTo>
                  <a:pt x="146494500" y="0"/>
                </a:lnTo>
                <a:cubicBezTo>
                  <a:pt x="154781250" y="0"/>
                  <a:pt x="161620200" y="0"/>
                  <a:pt x="167182800" y="561975"/>
                </a:cubicBezTo>
                <a:cubicBezTo>
                  <a:pt x="172964475" y="1162050"/>
                  <a:pt x="178279425" y="2428875"/>
                  <a:pt x="183270525" y="5610225"/>
                </a:cubicBezTo>
                <a:cubicBezTo>
                  <a:pt x="191023875" y="10534650"/>
                  <a:pt x="197310375" y="18402300"/>
                  <a:pt x="201253725" y="28079700"/>
                </a:cubicBezTo>
                <a:cubicBezTo>
                  <a:pt x="203796900" y="34318575"/>
                  <a:pt x="204816075" y="40967025"/>
                  <a:pt x="205282800" y="48196500"/>
                </a:cubicBezTo>
                <a:cubicBezTo>
                  <a:pt x="205740000" y="55149750"/>
                  <a:pt x="205740000" y="63703200"/>
                  <a:pt x="205740000" y="74056875"/>
                </a:cubicBezTo>
                <a:lnTo>
                  <a:pt x="205740000" y="131683125"/>
                </a:lnTo>
                <a:cubicBezTo>
                  <a:pt x="205740000" y="142036800"/>
                  <a:pt x="205740000" y="150590250"/>
                  <a:pt x="205282800" y="157543500"/>
                </a:cubicBezTo>
                <a:cubicBezTo>
                  <a:pt x="204816075" y="164772975"/>
                  <a:pt x="203796900" y="171421425"/>
                  <a:pt x="201253725" y="177660300"/>
                </a:cubicBezTo>
                <a:cubicBezTo>
                  <a:pt x="197310375" y="187337700"/>
                  <a:pt x="191023875" y="195205350"/>
                  <a:pt x="183270525" y="200129775"/>
                </a:cubicBezTo>
                <a:cubicBezTo>
                  <a:pt x="178279425" y="203311125"/>
                  <a:pt x="172964475" y="204577950"/>
                  <a:pt x="167182800" y="205178025"/>
                </a:cubicBezTo>
                <a:cubicBezTo>
                  <a:pt x="161620200" y="205740000"/>
                  <a:pt x="154781250" y="205740000"/>
                  <a:pt x="146494500" y="205740000"/>
                </a:cubicBezTo>
                <a:lnTo>
                  <a:pt x="59245500" y="205740000"/>
                </a:lnTo>
                <a:cubicBezTo>
                  <a:pt x="50958750" y="205740000"/>
                  <a:pt x="44119800" y="205740000"/>
                  <a:pt x="38557200" y="205178025"/>
                </a:cubicBezTo>
                <a:cubicBezTo>
                  <a:pt x="32775525" y="204577950"/>
                  <a:pt x="27460575" y="203311125"/>
                  <a:pt x="22469475" y="200129775"/>
                </a:cubicBezTo>
                <a:cubicBezTo>
                  <a:pt x="14716125" y="195205350"/>
                  <a:pt x="8429625" y="187337700"/>
                  <a:pt x="4486275" y="177660300"/>
                </a:cubicBezTo>
                <a:cubicBezTo>
                  <a:pt x="1943100" y="171421425"/>
                  <a:pt x="923925" y="164772975"/>
                  <a:pt x="457200" y="157543500"/>
                </a:cubicBezTo>
                <a:cubicBezTo>
                  <a:pt x="0" y="150590250"/>
                  <a:pt x="0" y="142036800"/>
                  <a:pt x="0" y="131683125"/>
                </a:cubicBezTo>
                <a:lnTo>
                  <a:pt x="0" y="74056875"/>
                </a:lnTo>
                <a:cubicBezTo>
                  <a:pt x="0" y="63703200"/>
                  <a:pt x="0" y="55149750"/>
                  <a:pt x="457200" y="48196500"/>
                </a:cubicBezTo>
                <a:cubicBezTo>
                  <a:pt x="923925" y="40967025"/>
                  <a:pt x="1943100" y="34318575"/>
                  <a:pt x="4486275" y="28079700"/>
                </a:cubicBezTo>
                <a:cubicBezTo>
                  <a:pt x="8429625" y="18402300"/>
                  <a:pt x="14716125" y="10534650"/>
                  <a:pt x="22469475" y="5610225"/>
                </a:cubicBezTo>
                <a:cubicBezTo>
                  <a:pt x="27460575" y="2428875"/>
                  <a:pt x="32775525" y="1162050"/>
                  <a:pt x="38557200" y="561975"/>
                </a:cubicBezTo>
                <a:cubicBezTo>
                  <a:pt x="44119800" y="0"/>
                  <a:pt x="50958750" y="0"/>
                  <a:pt x="59245500" y="0"/>
                </a:cubicBezTo>
                <a:close/>
                <a:moveTo>
                  <a:pt x="20574000" y="90011250"/>
                </a:moveTo>
                <a:lnTo>
                  <a:pt x="20574000" y="131159250"/>
                </a:lnTo>
                <a:cubicBezTo>
                  <a:pt x="20574000" y="142179675"/>
                  <a:pt x="20583525" y="149666325"/>
                  <a:pt x="20964525" y="155448000"/>
                </a:cubicBezTo>
                <a:cubicBezTo>
                  <a:pt x="21326475" y="161077275"/>
                  <a:pt x="21993225" y="163972875"/>
                  <a:pt x="22812375" y="165982650"/>
                </a:cubicBezTo>
                <a:cubicBezTo>
                  <a:pt x="24793575" y="170811825"/>
                  <a:pt x="27936825" y="174755175"/>
                  <a:pt x="31803975" y="177222150"/>
                </a:cubicBezTo>
                <a:cubicBezTo>
                  <a:pt x="33413700" y="178250850"/>
                  <a:pt x="35728275" y="179079525"/>
                  <a:pt x="40233600" y="179536725"/>
                </a:cubicBezTo>
                <a:cubicBezTo>
                  <a:pt x="44862750" y="180012975"/>
                  <a:pt x="50844450" y="180022500"/>
                  <a:pt x="59664600" y="180022500"/>
                </a:cubicBezTo>
                <a:lnTo>
                  <a:pt x="146075400" y="180022500"/>
                </a:lnTo>
                <a:cubicBezTo>
                  <a:pt x="154895550" y="180022500"/>
                  <a:pt x="160877250" y="180012975"/>
                  <a:pt x="165506400" y="179536725"/>
                </a:cubicBezTo>
                <a:cubicBezTo>
                  <a:pt x="170011725" y="179079525"/>
                  <a:pt x="172326300" y="178250850"/>
                  <a:pt x="173936025" y="177222150"/>
                </a:cubicBezTo>
                <a:cubicBezTo>
                  <a:pt x="177803175" y="174755175"/>
                  <a:pt x="180946425" y="170811825"/>
                  <a:pt x="182927625" y="165982650"/>
                </a:cubicBezTo>
                <a:cubicBezTo>
                  <a:pt x="183746775" y="163972875"/>
                  <a:pt x="184413525" y="161077275"/>
                  <a:pt x="184775475" y="155448000"/>
                </a:cubicBezTo>
                <a:cubicBezTo>
                  <a:pt x="185156475" y="149666325"/>
                  <a:pt x="185166000" y="142179675"/>
                  <a:pt x="185166000" y="131159250"/>
                </a:cubicBezTo>
                <a:lnTo>
                  <a:pt x="185166000" y="90011250"/>
                </a:lnTo>
                <a:lnTo>
                  <a:pt x="20574000" y="90011250"/>
                </a:lnTo>
                <a:close/>
                <a:moveTo>
                  <a:pt x="185146950" y="64293750"/>
                </a:moveTo>
                <a:cubicBezTo>
                  <a:pt x="185118375" y="58559700"/>
                  <a:pt x="185023125" y="54073425"/>
                  <a:pt x="184775475" y="50292000"/>
                </a:cubicBezTo>
                <a:cubicBezTo>
                  <a:pt x="184413525" y="44662725"/>
                  <a:pt x="183746775" y="41767125"/>
                  <a:pt x="182927625" y="39757350"/>
                </a:cubicBezTo>
                <a:cubicBezTo>
                  <a:pt x="180946425" y="34928175"/>
                  <a:pt x="177803175" y="30994350"/>
                  <a:pt x="173936025" y="28517850"/>
                </a:cubicBezTo>
                <a:cubicBezTo>
                  <a:pt x="172326300" y="27489150"/>
                  <a:pt x="170011725" y="26660475"/>
                  <a:pt x="165506400" y="26203275"/>
                </a:cubicBezTo>
                <a:cubicBezTo>
                  <a:pt x="160877250" y="25727025"/>
                  <a:pt x="154895550" y="25717500"/>
                  <a:pt x="146075400" y="25717500"/>
                </a:cubicBezTo>
                <a:lnTo>
                  <a:pt x="59664600" y="25717500"/>
                </a:lnTo>
                <a:cubicBezTo>
                  <a:pt x="50844450" y="25717500"/>
                  <a:pt x="44862750" y="25727025"/>
                  <a:pt x="40233600" y="26203275"/>
                </a:cubicBezTo>
                <a:cubicBezTo>
                  <a:pt x="35728275" y="26660475"/>
                  <a:pt x="33413700" y="27489150"/>
                  <a:pt x="31803975" y="28517850"/>
                </a:cubicBezTo>
                <a:cubicBezTo>
                  <a:pt x="27936825" y="30994350"/>
                  <a:pt x="24793575" y="34928175"/>
                  <a:pt x="22812375" y="39757350"/>
                </a:cubicBezTo>
                <a:cubicBezTo>
                  <a:pt x="21993225" y="41767125"/>
                  <a:pt x="21326475" y="44662725"/>
                  <a:pt x="20964525" y="50292000"/>
                </a:cubicBezTo>
                <a:cubicBezTo>
                  <a:pt x="20716875" y="54073425"/>
                  <a:pt x="20621625" y="58559700"/>
                  <a:pt x="20593050" y="64293750"/>
                </a:cubicBezTo>
                <a:lnTo>
                  <a:pt x="185146950" y="64293750"/>
                </a:lnTo>
                <a:close/>
                <a:moveTo>
                  <a:pt x="123444000" y="141446250"/>
                </a:moveTo>
                <a:cubicBezTo>
                  <a:pt x="123444000" y="134350125"/>
                  <a:pt x="128054100" y="128587500"/>
                  <a:pt x="133731000" y="128587500"/>
                </a:cubicBezTo>
                <a:lnTo>
                  <a:pt x="154305000" y="128587500"/>
                </a:lnTo>
                <a:cubicBezTo>
                  <a:pt x="159981900" y="128587500"/>
                  <a:pt x="164592000" y="134350125"/>
                  <a:pt x="164592000" y="141446250"/>
                </a:cubicBezTo>
                <a:cubicBezTo>
                  <a:pt x="164592000" y="148542375"/>
                  <a:pt x="159981900" y="154305000"/>
                  <a:pt x="154305000" y="154305000"/>
                </a:cubicBezTo>
                <a:lnTo>
                  <a:pt x="133731000" y="154305000"/>
                </a:lnTo>
                <a:cubicBezTo>
                  <a:pt x="128054100" y="154305000"/>
                  <a:pt x="123444000" y="148542375"/>
                  <a:pt x="123444000" y="1414462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595526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9BB1AC3-60A9-4420-B906-5CF32E56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F6E30E1-732B-40C3-AD59-1D922D9F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一次智能体任务，本质上是有边界的执行循环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A1FE3B9-4677-4915-959C-5596A948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1｜输入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人提出目标
应用组装指令与上下文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A85E82D-42E7-4F04-857E-FC27AEE3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2｜判断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大模型分析现状
选择下一步行动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A52B715-84FD-4EF0-B259-E4CB7563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3｜行动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系统检查权限
调用工具并返回结果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A2C3BD8-CC6B-48BE-A61B-8E45E1F2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4｜验证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检查产物与标准
通过、修正或人工介入</a:t>
            </a:r>
          </a:p>
        </p:txBody>
      </p:sp>
    </p:spTree>
    <p:extLst>
      <p:ext uri="{BB962C8B-B14F-4D97-AF65-F5344CB8AC3E}">
        <p14:creationId xmlns:p14="http://schemas.microsoft.com/office/powerpoint/2010/main" val="19528429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216FBC-9223-4DCA-8ED3-15090252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9CAF75F-1B10-4303-BC4C-E27043CB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现场演示：让 WorkBuddy 完成一次培训需求分析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8A4D369-770C-4CE4-93CD-4237C5CD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输入两份模拟材料
报名统计表 + 需求访谈记录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E92F166-297D-46A6-A589-12370BEF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先计划，再执行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FF3CD36E-35E9-4EAC-B41F-23BECFDF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01F3BEB4-6ABA-4810-A05B-695A99F8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目标：形成培训需求分析，并生成 5 页以内的汇报 PPT。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边界：不补充材料外事实；不确定项标记“待确认”；先给计划，确认后执行。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FF074C2-820D-4A0E-BFEB-FB46B959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统计与归纳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F8C3D67-BEBA-41F5-8AB9-F228B379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8E5F814D-60A9-4F0E-BD8A-0D75D5F8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生成可验收产物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3187EF5B-1C3E-40A9-9A49-93C280E3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80DB43B-F0EE-413D-A325-F5C5F802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标记不确定信息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39C30FD3-99E1-4FF5-A357-A1EEACD4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077B6587-791E-413B-98C3-2EEAEDE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列出人工检查项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6E516190-B161-4724-BDEC-68A7166B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6770596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3E9BC61-7004-4384-80F0-655EC3B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C3F9779-0359-42EC-9276-37076A1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材料和工具不同，但各岗位的任务结构相同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6CD80A9-CEC0-4C8A-83EC-C5ACBABA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文档工作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材料：会议、制度
产物：纪要、报告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C0424E0-A405-45FC-93B0-7882EA8E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研发工作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材料：代码、日志
产物：变更、测试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B6531A05-1076-49DC-9C01-C9401304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数据工作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材料：表格、指标
产物：分析、图表</a:t>
            </a:r>
          </a:p>
        </p:txBody>
      </p:sp>
    </p:spTree>
    <p:extLst>
      <p:ext uri="{BB962C8B-B14F-4D97-AF65-F5344CB8AC3E}">
        <p14:creationId xmlns:p14="http://schemas.microsoft.com/office/powerpoint/2010/main" val="18913942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F4CEEA5-AFCA-4B21-B863-55152B76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BC18F1C-BEDE-4509-B035-601E56E4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委派任务，不只是写一句提示词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6B87BE57-CBB8-453D-88CA-8CF882A5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BDE0276-3CEE-47E9-BF59-54772A5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材料与上下文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参考哪些文件和数据？
缺少什么必须先询问？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CD0800EA-F71E-4DCF-BE94-44FCF676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D753283-3520-4A0C-926C-72B88573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目标与产物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最终需要完成什么？
交付报告、表格还是PPT？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4160B8C4-9EE7-47B3-B899-917ED58C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15461C94-ACCB-4036-80DD-8F6D2132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验收与确认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怎样判断结果合格？
哪些操作必须人工批准？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DEC0033E-548C-471C-B4D1-36774356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89FA3796-C1A0-4F18-B4B4-D83E5116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约束与权限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不能做什么？
允许读取、修改或执行什么？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0C07959F-B2C7-4CBE-B886-020A7CC4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任务越复杂，越需要把“怎么才算完成”说清楚。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说清目标 · 给足材料 · 明确边界 · 约定产物 · 设置验收</a:t>
            </a:r>
          </a:p>
        </p:txBody>
      </p:sp>
    </p:spTree>
    <p:extLst>
      <p:ext uri="{BB962C8B-B14F-4D97-AF65-F5344CB8AC3E}">
        <p14:creationId xmlns:p14="http://schemas.microsoft.com/office/powerpoint/2010/main" val="17126010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DE6993-062B-41CA-A357-65F878F7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6FB89A3-31DE-496E-8634-51AEFD2B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带走这五句话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E84D899-D925-46FD-82FB-FDD20AFB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理解智能体，
从理解边界开始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31D44A5-177B-4FAF-8B01-5849818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大模型是能力引擎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9A6CB7B2-75C0-4CC0-896E-A69AAF34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1117A09F-34AD-459D-8C03-EC406757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智能体可以连续执行任务，但不是无限自主。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清晰目标、最小权限和人工验收缺一不可。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9965AA9-9743-4574-BBA8-6B2EAE99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上下文决定它能看到什么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05A31B04-E1B4-448A-B55F-74FC5572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93B6BFF-D19E-443B-9F51-ED10E625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工具让回答走向行动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A8C7B195-3F61-4541-9A9B-BA4F3A87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644C048-79B9-497E-B37D-48DC0641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循环让任务持续推进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71B5370F-31D4-479D-A0DD-77097C05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3310DEAC-7637-465E-814E-98ABB494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人负责目标、权限和验收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08CD5E44-9673-4631-806B-B5B8FE85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5584592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2026-08-04T07:24:43.7430000Z</dcterms:created>
  <dcterms:modified xsi:type="dcterms:W3CDTF">2026-08-04T07:24:43.7430000Z</dcterms:modified>
</coreProperties>
</file>