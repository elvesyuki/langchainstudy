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510fedc334183" /><Relationship Type="http://schemas.openxmlformats.org/officeDocument/2006/relationships/extended-properties" Target="/docProps/app.xml" Id="R601fa10c0a904c10" /><Relationship Type="http://schemas.openxmlformats.org/officeDocument/2006/relationships/officeDocument" Target="/ppt/presentation.xml" Id="Rf44e46a9d89443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dc3a10549742f0"/>
  </p:sldMasterIdLst>
  <p:notesMasterIdLst>
    <p:notesMasterId xmlns:r="http://schemas.openxmlformats.org/officeDocument/2006/relationships" r:id="Rbcef6e5feb0941ba"/>
  </p:notesMasterIdLst>
  <p:sldIdLst>
    <p:sldId xmlns:r="http://schemas.openxmlformats.org/officeDocument/2006/relationships" id="256" r:id="R93b077b224514916"/>
    <p:sldId xmlns:r="http://schemas.openxmlformats.org/officeDocument/2006/relationships" id="257" r:id="R7287dfc74f5743c5"/>
    <p:sldId xmlns:r="http://schemas.openxmlformats.org/officeDocument/2006/relationships" id="258" r:id="R395cf8cb654e4112"/>
    <p:sldId xmlns:r="http://schemas.openxmlformats.org/officeDocument/2006/relationships" id="259" r:id="Re62ff0b91fa54cd5"/>
    <p:sldId xmlns:r="http://schemas.openxmlformats.org/officeDocument/2006/relationships" id="260" r:id="Rdfdd0d4079ba46d1"/>
    <p:sldId xmlns:r="http://schemas.openxmlformats.org/officeDocument/2006/relationships" id="261" r:id="Rfd3d20fcf8034c14"/>
    <p:sldId xmlns:r="http://schemas.openxmlformats.org/officeDocument/2006/relationships" id="262" r:id="R96436767edcb44ec"/>
    <p:sldId xmlns:r="http://schemas.openxmlformats.org/officeDocument/2006/relationships" id="263" r:id="Rf57e08564b4a4e60"/>
    <p:sldId xmlns:r="http://schemas.openxmlformats.org/officeDocument/2006/relationships" id="264" r:id="R5b7beadd6d194776"/>
    <p:sldId xmlns:r="http://schemas.openxmlformats.org/officeDocument/2006/relationships" id="265" r:id="R8768e822a190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56ee39e95443f" /><Relationship Type="http://schemas.openxmlformats.org/officeDocument/2006/relationships/slideMaster" Target="/ppt/slideMasters/slideMaster1.xml" Id="R52dc3a10549742f0" /><Relationship Type="http://schemas.openxmlformats.org/officeDocument/2006/relationships/notesMaster" Target="/ppt/notesMasters/notesMaster1.xml" Id="Rbcef6e5feb0941ba" /><Relationship Type="http://schemas.openxmlformats.org/officeDocument/2006/relationships/presProps" Target="/ppt/presProps.xml" Id="Rf67d8f69a84d44b5" /><Relationship Type="http://schemas.openxmlformats.org/officeDocument/2006/relationships/tableStyles" Target="/ppt/tableStyles.xml" Id="R1ec9df2fde6742b3" /><Relationship Type="http://schemas.openxmlformats.org/officeDocument/2006/relationships/slide" Target="/ppt/slides/slide1.xml" Id="R93b077b224514916" /><Relationship Type="http://schemas.openxmlformats.org/officeDocument/2006/relationships/slide" Target="/ppt/slides/slide2.xml" Id="R7287dfc74f5743c5" /><Relationship Type="http://schemas.openxmlformats.org/officeDocument/2006/relationships/slide" Target="/ppt/slides/slide3.xml" Id="R395cf8cb654e4112" /><Relationship Type="http://schemas.openxmlformats.org/officeDocument/2006/relationships/slide" Target="/ppt/slides/slide4.xml" Id="Re62ff0b91fa54cd5" /><Relationship Type="http://schemas.openxmlformats.org/officeDocument/2006/relationships/slide" Target="/ppt/slides/slide5.xml" Id="Rdfdd0d4079ba46d1" /><Relationship Type="http://schemas.openxmlformats.org/officeDocument/2006/relationships/slide" Target="/ppt/slides/slide6.xml" Id="Rfd3d20fcf8034c14" /><Relationship Type="http://schemas.openxmlformats.org/officeDocument/2006/relationships/slide" Target="/ppt/slides/slide7.xml" Id="R96436767edcb44ec" /><Relationship Type="http://schemas.openxmlformats.org/officeDocument/2006/relationships/slide" Target="/ppt/slides/slide8.xml" Id="Rf57e08564b4a4e60" /><Relationship Type="http://schemas.openxmlformats.org/officeDocument/2006/relationships/slide" Target="/ppt/slides/slide9.xml" Id="R5b7beadd6d194776" /><Relationship Type="http://schemas.openxmlformats.org/officeDocument/2006/relationships/slide" Target="/ppt/slides/slide10.xml" Id="R8768e822a190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d335e82a8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ef16ce51944e31" /><Relationship Type="http://schemas.openxmlformats.org/officeDocument/2006/relationships/notesMaster" Target="/ppt/notesMasters/notesMaster1.xml" Id="R4b1a58adaad1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9ba3fd62404a9f" /><Relationship Type="http://schemas.openxmlformats.org/officeDocument/2006/relationships/notesMaster" Target="/ppt/notesMasters/notesMaster1.xml" Id="R80a6e4da3aef4c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6c017a1ca46b5" /><Relationship Type="http://schemas.openxmlformats.org/officeDocument/2006/relationships/notesMaster" Target="/ppt/notesMasters/notesMaster1.xml" Id="R440f564a7bc64f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0ecc9bff14d39" /><Relationship Type="http://schemas.openxmlformats.org/officeDocument/2006/relationships/notesMaster" Target="/ppt/notesMasters/notesMaster1.xml" Id="Rf10a1f0ead2f46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c267885884c6b" /><Relationship Type="http://schemas.openxmlformats.org/officeDocument/2006/relationships/notesMaster" Target="/ppt/notesMasters/notesMaster1.xml" Id="R4eda3a444dd545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732015074b4f92" /><Relationship Type="http://schemas.openxmlformats.org/officeDocument/2006/relationships/notesMaster" Target="/ppt/notesMasters/notesMaster1.xml" Id="R305d558fcdb346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5f750c06c4dd3" /><Relationship Type="http://schemas.openxmlformats.org/officeDocument/2006/relationships/notesMaster" Target="/ppt/notesMasters/notesMaster1.xml" Id="Rf9306f8093b746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deae05780f4d23" /><Relationship Type="http://schemas.openxmlformats.org/officeDocument/2006/relationships/notesMaster" Target="/ppt/notesMasters/notesMaster1.xml" Id="Re4119cc06fb14e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d0a245fc046a0" /><Relationship Type="http://schemas.openxmlformats.org/officeDocument/2006/relationships/notesMaster" Target="/ppt/notesMasters/notesMaster1.xml" Id="Rb8761a3c61424c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6426ec10c548a8" /><Relationship Type="http://schemas.openxmlformats.org/officeDocument/2006/relationships/notesMaster" Target="/ppt/notesMasters/notesMaster1.xml" Id="R5d7b9c1c3784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用大约30分钟认识AI工作软件。我们不讲复杂算法，也不罗列大量产品，而是借助WorkBuddy完成一个实际办公任务，理解大模型、AI应用、上下文、工具、智能体、验证与授权六个概念。理解这些概念后，换成其他办公AI或研发AI工具，也能看懂它们怎样工作、怎样使用、哪里需要人工把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 generation，封面视觉：AI办公智能体协调文档、表格、演示文稿与任务执行；无品牌、无文字。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最早接触AI，通常是在聊天框中提问并得到一段文字。后来AI进入文档、表格、设计和开发软件，帮助完成其中某一步。现在又出现智能体软件：我们不只是问一个问题，而是提供目标和材料，让它规划步骤、处理文件、生成产物。今天要理解的，就是从回答问题到交付结果背后的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可以理解为AI软件中的通用能力引擎，但它不是完整软件。WorkBuddy是AI应用：除了模型，还需要任务界面、文件处理、工具管理和结果展示。上下文则是当前任务真正给到模型的信息，例如任务要求、上传的表格、公司模板和工具执行结果。AI没有获得一份材料，不代表它会自动知道这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https://www.workbuddy.cn/docs/workbuddy/Overview（WorkBuddy官方产品定位与能力说明）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主要负责理解、生成和判断，不会天然操作我们的文件和办公软件。工具是AI应用暴露的外部能力。智能体则在目标、规则和权限范围内，反复使用模型和工具完成任务。需要特别区分：模型提出调用工具的意图，不等于它已经拥有执行权限。授权解决能不能做，验证解决做得对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流程从人提出任务开始。应用把任务、文件和规则组成上下文，大模型判断下一步；需要操作时由系统检查权限并执行工具；工具结果再返回模型，模型继续调整。最终产物还要经过规则或人工验证。这个输入、判断、行动、观察、验证的过程，就是Agent Loop。它不是无限运行，而应该有目标、权限、预算和终止条件。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上传“AI培训报名统计.xlsx”和“AI培训需求访谈记录.docx”。</a:t>
            </a:r>
          </a:p>
          <a:p xmlns:a="http://schemas.openxmlformats.org/drawingml/2006/main">
            <a:r>
              <a:t>2. 输入任务：请统计各部门报名人数，总结最关注的三个问题，提出培训建议，并生成5页以内的汇报PPT。不要补充材料中没有的事实，无法确认的信息标记为“待确认”，最后列出使用材料和人工检查项。请先给处理计划，等我确认后再执行。</a:t>
            </a:r>
          </a:p>
          <a:p xmlns:a="http://schemas.openxmlformats.org/drawingml/2006/main">
            <a:r>
              <a:t>3. 在计划阶段停下来，请现场同事判断是否遗漏。</a:t>
            </a:r>
          </a:p>
          <a:p xmlns:a="http://schemas.openxmlformats.org/drawingml/2006/main">
            <a:r>
              <a:t>4. 允许执行后，观察它读取文件、分析数据、生成产物和根据结果调整。</a:t>
            </a:r>
          </a:p>
          <a:p xmlns:a="http://schemas.openxmlformats.org/drawingml/2006/main">
            <a:r>
              <a:t>5. 打开PPT，核对三个预设事实：研发报名8人；数据安全为首要关注；培训建议能在访谈中找到依据。</a:t>
            </a:r>
          </a:p>
          <a:p xmlns:a="http://schemas.openxmlformats.org/drawingml/2006/main">
            <a:r>
              <a:t>6. 强调：产物生成不等于产物正确，必须回到原始材料和验收标准。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https://www.workbuddy.cn/docs/workbuddy/Overview（官方简介：自主规划执行、文档/表格/PPT/数据分析、本地授权文件处理、结果查看）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虽然演示的是培训分析，但同样的结构可以迁移到其他岗位。文档工作的材料可能是会议记录，数据工作的材料可能是表格和指标口径，研发工作的材料可能是代码和日志。共同结构都是：给目标、提供上下文、授权工具、智能体执行、人工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智能体，不只是追求高级提示词，而是学习定义一个清晰、可执行、可验收的任务。对于简单任务不必写得很长；但任务越复杂、风险越高，就越应该说清目标、材料、约束、权限、产物、验收标准和人工确认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判断题结束概念部分。第一，WorkBuddy不是一个大模型，而是AI应用；第二，模型提出调用工具不代表获得权限，实际执行必须由系统控制；第三，生成PPT只是形成产物，不代表产物一定正确，仍需根据原始材料和验收标准检查。可以邀请现场同事先回答，再展示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带走五句话：大模型是能力引擎；上下文决定它当前能看到什么；工具让回答走向行动；循环让任务持续推进；人负责目标、权限和最终验收。后续可以再分别展开WorkBuddy实操、办公任务设计、智能体原理和企业数据安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9d0476f9a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7b24ee96bb460b" /><Relationship Type="http://schemas.openxmlformats.org/officeDocument/2006/relationships/slideLayout" Target="/ppt/slideLayouts/slideLayout1.xml" Id="Reeb7976db23d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7976db23d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2132712449e3" /><Relationship Type="http://schemas.openxmlformats.org/officeDocument/2006/relationships/image" Target="/ppt/media/image.png" Id="R1fd33f23817b429c" /><Relationship Type="http://schemas.openxmlformats.org/officeDocument/2006/relationships/notesSlide" Target="/ppt/notesSlides/notesSlide1.xml" Id="Rf23d7d751e7a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5a89c99de4edf" /><Relationship Type="http://schemas.openxmlformats.org/officeDocument/2006/relationships/notesSlide" Target="/ppt/notesSlides/notesSlide2.xml" Id="R2eb3fd780cab45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27023055f4f25" /><Relationship Type="http://schemas.openxmlformats.org/officeDocument/2006/relationships/notesSlide" Target="/ppt/notesSlides/notesSlide3.xml" Id="Ra22e93b3abf242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cc5bf8e374d72" /><Relationship Type="http://schemas.openxmlformats.org/officeDocument/2006/relationships/notesSlide" Target="/ppt/notesSlides/notesSlide4.xml" Id="R6b16ce157495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c850712c046ac" /><Relationship Type="http://schemas.openxmlformats.org/officeDocument/2006/relationships/notesSlide" Target="/ppt/notesSlides/notesSlide5.xml" Id="Rcbbea6b0de5f48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6d50681540c7" /><Relationship Type="http://schemas.openxmlformats.org/officeDocument/2006/relationships/notesSlide" Target="/ppt/notesSlides/notesSlide6.xml" Id="R2faf4a6e68de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5f39c60864877" /><Relationship Type="http://schemas.openxmlformats.org/officeDocument/2006/relationships/notesSlide" Target="/ppt/notesSlides/notesSlide7.xml" Id="R365eb1f18c6c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29d57b9204c9f" /><Relationship Type="http://schemas.openxmlformats.org/officeDocument/2006/relationships/notesSlide" Target="/ppt/notesSlides/notesSlide8.xml" Id="R6dab1a730ee4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24d1e0a5a4f7d" /><Relationship Type="http://schemas.openxmlformats.org/officeDocument/2006/relationships/notesSlide" Target="/ppt/notesSlides/notesSlide9.xml" Id="Rb01cd2446c6e4c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4d534d3b5453b" /><Relationship Type="http://schemas.openxmlformats.org/officeDocument/2006/relationships/notesSlide" Target="/ppt/notesSlides/notesSlide10.xml" Id="R0c97039320cb49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33f23817b42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4E29-6092-4C17-AE39-1B8D7EB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55000">
                <a:srgbClr val="07111F">
                  <a:alpha val="96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386ED-C907-489F-A6CE-CC9EBEC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A9C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9C7FF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45C10-5773-41E8-B698-FC661C80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334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从大模型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ACFA0-930A-4287-B8E2-927967F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029075"/>
            <a:ext cx="876300" cy="57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9F5"/>
              </a:gs>
              <a:gs pos="100000">
                <a:srgbClr val="8B5CF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6428B-FBDE-49E9-B6EC-BD7F51C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以 WorkBuddy 为例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看懂 AI 工作软件的 6 个基本概念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66CB6-26E0-48A4-B50A-7D80A397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F96B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F96BC"/>
                </a:solidFill>
                <a:latin typeface="PingFang SC"/>
                <a:ea typeface="PingFang SC"/>
                <a:cs typeface="PingFang SC"/>
              </a:rPr>
              <a:t>30 MIN · INTERNAL TRAINING</a:t>
            </a:r>
          </a:p>
        </p:txBody>
      </p:sp>
    </p:spTree>
    <p:extLst>
      <p:ext uri="{BB962C8B-B14F-4D97-AF65-F5344CB8AC3E}">
        <p14:creationId xmlns:p14="http://schemas.microsoft.com/office/powerpoint/2010/main" val="421753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927AA-9E1E-4052-9286-113DE648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0585-0CCC-4C80-B41F-1F8D94D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软件正在从“回答问题”走向“交付结果”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B814D-45AF-45E2-946F-5158E1D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5D246-5FF0-4FF6-A8B1-1F9F6D2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52800"/>
            <a:ext cx="1666875" cy="1143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31C9F5"/>
              </a:gs>
              <a:gs pos="100000">
                <a:srgbClr val="4B7B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3CD2B-9E9A-4600-AD39-DCBDDB45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352800"/>
            <a:ext cx="1666875" cy="1143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4B7BFF"/>
              </a:gs>
              <a:gs pos="100000">
                <a:srgbClr val="8B5CF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143AE-96D3-461D-8C65-13ED667E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B234F-076C-40DE-9867-A6764EB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聊天问答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C168-B6B2-4B88-99ED-C48E2F3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我问，它答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交付一段内容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1F8EB-2F89-4444-9C8E-15A92D2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238750"/>
            <a:ext cx="2800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F8AA-7A7A-4E6A-84D9-50AC308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4B7B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4B7B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05DE-C16B-49FB-86AB-9CCA2A8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专业助手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1970B-9FD7-4336-8938-CCDBB218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进入工作软件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协助完成某一步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7ED95-F61D-471F-BFFB-031CB284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5238750"/>
            <a:ext cx="2800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FEDD3-EFB7-4F8C-A3E6-4F87F92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7776E-DF0B-443C-B4E9-D6E2B32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52E4D-23F0-4A10-AC57-3AA7DCA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我给目标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它执行，我验收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89551-D368-4FFA-B3A2-F3E60F65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5238750"/>
            <a:ext cx="2800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B9066-3B13-4C2F-AA3F-595DA9A2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变化的关键：从生成内容，走向围绕目标连续执行。</a:t>
            </a:r>
          </a:p>
        </p:txBody>
      </p:sp>
    </p:spTree>
    <p:extLst>
      <p:ext uri="{BB962C8B-B14F-4D97-AF65-F5344CB8AC3E}">
        <p14:creationId xmlns:p14="http://schemas.microsoft.com/office/powerpoint/2010/main" val="25115156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100000">
              <a:srgbClr val="1117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44A7A-D202-49EC-881F-D111B09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131F0-5D58-4B8F-950B-BE7658FC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先分清：模型、应用与上下文不是一回事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D12D8-91AE-4FB4-9A70-89536FE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43D6F-CE9E-41AB-88B1-E021212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809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0BAED-1961-44FC-A151-D62610A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42D3-9470-4A79-8C90-D58758F8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47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535CD-3BBA-4C84-B3D5-511F100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954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能力引擎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D9983-F762-4204-B771-84F4A52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2880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负责理解、生成和判断；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擅长生成，不代表事实已经验证。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BDBA-7264-4933-904A-171B8178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009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86D55-F5C4-40AF-A9DD-B7DF0A2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E0CF7-06BE-4198-B7C6-D5612C22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B7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B7B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0934E-7226-484E-AC59-5A5FA92E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7F2D6-7656-4252-A496-92A4137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242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软件产品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21A0A-19B3-4CAE-BD88-FFB60F8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575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把模型、界面、规则、数据和工具组合起来，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形成可以使用的软件。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CC779-A68D-48E9-9C4D-A2AE3B0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438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8B88F-6BB2-4913-B381-EB0998B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667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7A33C-E8CE-4412-8C2C-895B108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CFACC-CF93-4F63-995D-46C5E98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1D825-6B01-4FC3-8A90-E5A8395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529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工作材料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45FC2-25DF-4505-9E85-2B39655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8630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当前任务真正提供给模型的信息：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3F5"/>
                </a:solidFill>
                <a:latin typeface="PingFang SC"/>
                <a:ea typeface="PingFang SC"/>
                <a:cs typeface="PingFang SC"/>
              </a:rPr>
              <a:t>任务、文件、规则和执行结果。</a:t>
            </a:r>
          </a:p>
        </p:txBody>
      </p:sp>
    </p:spTree>
    <p:extLst>
      <p:ext uri="{BB962C8B-B14F-4D97-AF65-F5344CB8AC3E}">
        <p14:creationId xmlns:p14="http://schemas.microsoft.com/office/powerpoint/2010/main" val="2115227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40F3F-0199-47FD-9656-2EF9854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43EF8-3767-4379-8487-216198B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工具让模型行动，循环让任务持续，验证让结果可信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0917-4788-4F13-9A8D-FC5DCB88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FF588-BBEC-436A-8FBB-846CD58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90700"/>
            <a:ext cx="3390900" cy="3905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8F2EB-CACA-4513-8659-27676B73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9070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3332C-ABE8-4227-A2A2-72EF4A7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C7A26-BF0D-420D-9596-A89D1CB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5B0D0-41D1-4CEA-B196-112563E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从内容到行动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5912-70CC-4D03-B1F8-9611AC31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软件提供的可调用能力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读取文件 · 分析表格 · 生成产物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B4825-4E45-4E5C-BB0E-2295CC7C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90700"/>
            <a:ext cx="3390900" cy="3905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AAC02-4C72-43ED-BD50-168C4D2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9070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AAB2B-4E64-4155-939C-4C57F9F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F360E-ACDD-430C-A8E9-3AF2DE4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6C55E-D759-4A35-A536-FB3E9F08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从一步到多步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9488A-9E51-452D-A48D-5552B15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围绕目标连续判断与执行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直到完成或需要人工介入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1F648-5597-4496-8805-18ACB85A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1790700"/>
            <a:ext cx="3390900" cy="39052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C8F01-2B22-4C93-ACA4-E364C98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179070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5684D-8A33-4C21-8D30-C6FFE50C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8A6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8A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30F61-BD68-4B9F-9B55-4F484E07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验证与授权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DC526-41D3-4A65-A43B-BA1EF85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8A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8A6B"/>
                </a:solidFill>
                <a:latin typeface="PingFang SC"/>
                <a:ea typeface="PingFang SC"/>
                <a:cs typeface="PingFang SC"/>
              </a:rPr>
              <a:t>从能做到做对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CEB24-EDC8-4FB1-99BC-B4AD62D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授权决定“能不能做”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验证判断“做得对不对”</a:t>
            </a:r>
          </a:p>
        </p:txBody>
      </p:sp>
    </p:spTree>
    <p:extLst>
      <p:ext uri="{BB962C8B-B14F-4D97-AF65-F5344CB8AC3E}">
        <p14:creationId xmlns:p14="http://schemas.microsoft.com/office/powerpoint/2010/main" val="189136460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100000">
              <a:srgbClr val="121A3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16B7E-57B3-4678-9487-466B42E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9379-4AA1-4CB8-B4DD-F6F50BF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一次智能体任务，本质上是有边界的执行循环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44EF1-C244-499F-83D3-5DDCC05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8B297-FAF9-4571-88E8-6AF31491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352800"/>
            <a:ext cx="609600" cy="1524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31C9F5"/>
              </a:gs>
              <a:gs pos="100000">
                <a:srgbClr val="4B7B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5DCF-3413-4F52-A571-661B8BE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352800"/>
            <a:ext cx="609600" cy="1524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4B7BFF"/>
              </a:gs>
              <a:gs pos="100000">
                <a:srgbClr val="8B5CF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12D44-0168-48D0-83E4-FCF85FB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352800"/>
            <a:ext cx="609600" cy="1524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8B5CF6"/>
              </a:gs>
              <a:gs pos="100000">
                <a:srgbClr val="FF8A6B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0A2F3-52FC-421F-B038-F5024B6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352800"/>
            <a:ext cx="609600" cy="1524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F8A6B"/>
              </a:gs>
              <a:gs pos="100000">
                <a:srgbClr val="2BCB9B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1BA37-CCD1-46E0-9A53-468E89A2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66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CB9F-CD9C-4062-8E00-FC29103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DD0F-5D7B-4BBB-B30C-1CE0272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rPr>
              <a:t>目标 + 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7E1F-8B49-40E2-9005-4B2A26C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266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47A16-EA57-4A13-9025-28B0E727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73BD6-108C-429B-80E5-56BB9D9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95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rPr>
              <a:t>选择下一步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F3DA5-1998-44A7-A83A-C0786DC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266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2E456-B5D1-4991-8EAD-58C117B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78E1E-1A1E-48FC-8F38-365F11B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195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rPr>
              <a:t>检查权限并调用工具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8F1A2-DB21-4412-AFD8-744AF0F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266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DF1EA-3C7E-4ABD-9AB2-AEFCF75C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BFF39-7B10-4BED-90B8-BB14D07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95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rPr>
              <a:t>读取执行结果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738CC-755A-4685-B840-B47DC39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2266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CB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CA26B-B914-4E69-8FEE-E145660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87D3F-5D80-4202-BF4B-DE3CF3F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9D7EF"/>
                </a:solidFill>
                <a:latin typeface="PingFang SC"/>
                <a:ea typeface="PingFang SC"/>
                <a:cs typeface="PingFang SC"/>
              </a:rPr>
              <a:t>通过、修正或介入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37D85-BB04-4B7D-83FE-09C71F0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900" y="5286375"/>
            <a:ext cx="46482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9525">
            <a:solidFill>
              <a:srgbClr val="3246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09863-FE0E-4B9A-8428-F89C3666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197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9E6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E6FF"/>
                </a:solidFill>
                <a:latin typeface="PingFang SC"/>
                <a:ea typeface="PingFang SC"/>
                <a:cs typeface="PingFang SC"/>
              </a:rPr>
              <a:t>未通过 → 回到输入或等待人工补充</a:t>
            </a:r>
          </a:p>
        </p:txBody>
      </p:sp>
    </p:spTree>
    <p:extLst>
      <p:ext uri="{BB962C8B-B14F-4D97-AF65-F5344CB8AC3E}">
        <p14:creationId xmlns:p14="http://schemas.microsoft.com/office/powerpoint/2010/main" val="503043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8CE2A6-B090-47C4-89F9-22E5511F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B5E5D-A90F-4D77-B5B2-9826152F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现场演示：让 WorkBuddy 完成一次培训需求分析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B1B08-FF50-4938-B077-AA06169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BA137-FEC9-45E4-8FF9-523B03E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3314700"/>
            <a:ext cx="800100" cy="1714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31C9F5"/>
              </a:gs>
              <a:gs pos="100000">
                <a:srgbClr val="4B7B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81A59-87E5-4B3A-BC39-5DBCCA34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314700"/>
            <a:ext cx="800100" cy="1714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8B5CF6"/>
              </a:gs>
              <a:gs pos="100000">
                <a:srgbClr val="FF8A6B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1880E-4D42-4BBD-A74C-E6C5C4C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输入材料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3B1B-67B1-48C8-BFE8-84F856A0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324100"/>
            <a:ext cx="25527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A1731-58EB-4C21-B20B-5C61B15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5431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7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4B7BFF"/>
                </a:solidFill>
                <a:latin typeface="PingFang SC"/>
                <a:ea typeface="PingFang SC"/>
                <a:cs typeface="PingFang SC"/>
              </a:rPr>
              <a:t>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24188-B6B0-47C3-8F94-CA69CA7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培训报名统计.xlsx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8A92F-998F-4989-9874-FEBF3C9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部门 · 使用经验 · 关注问题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9FE98-753F-435B-8E4F-3A67FE8B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600450"/>
            <a:ext cx="25527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646D-E412-4FB2-929D-7214C13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819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B2E61-CE66-4B64-B39F-561B9E21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48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需求访谈记录.docx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74B90-E876-4792-BDAC-E6E03B93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产品 · 运营 · 研发 · 行政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AA794-1926-4949-AC25-0BA282B3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019300"/>
            <a:ext cx="3752850" cy="3143250"/>
          </a:xfrm>
          <a:prstGeom xmlns:a="http://schemas.openxmlformats.org/drawingml/2006/main" prst="roundRect">
            <a:avLst>
              <a:gd name="adj" fmla="val 4848"/>
            </a:avLst>
          </a:prstGeom>
          <a:gradFill xmlns:a="http://schemas.openxmlformats.org/drawingml/2006/main">
            <a:gsLst>
              <a:gs pos="0">
                <a:srgbClr val="111735"/>
              </a:gs>
              <a:gs pos="100000">
                <a:srgbClr val="1A2451"/>
              </a:gs>
            </a:gsLst>
            <a:lin ang="8100000"/>
          </a:gradFill>
          <a:ln xmlns:a="http://schemas.openxmlformats.org/drawingml/2006/main" w="9525">
            <a:solidFill>
              <a:srgbClr val="425D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5A10E-DA15-4D88-90B7-C93C993B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0B5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0B5FF"/>
                </a:solidFill>
                <a:latin typeface="PingFang SC"/>
                <a:ea typeface="PingFang SC"/>
                <a:cs typeface="PingFang SC"/>
              </a:rPr>
              <a:t>WORKBUDDY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52932-34BA-47FA-B15C-55FA158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先计划，再执行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4E8A9-DFE1-47DA-BC35-30C5103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638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89718-264E-4B43-AD1C-6D89E026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19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统计与归纳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FF596-0E8E-434D-A3FF-111380D9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962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15ED0-2E50-41F1-9020-69DDEC74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提出培训建议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8377D-E09A-4658-B37A-1637245E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286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9AFAE-83A8-4B2A-879C-BE29265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生成 5 页以内 PPT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3E99E-8812-45C0-8D50-EE277E8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610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940B3-79A6-4D53-82FD-BF8B10C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标记待确认项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BEA3C-344F-4941-BFE1-75ED4CB4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933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340CF-A55A-44F0-9453-0A37770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14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E5FF"/>
                </a:solidFill>
                <a:latin typeface="PingFang SC"/>
                <a:ea typeface="PingFang SC"/>
                <a:cs typeface="PingFang SC"/>
              </a:rPr>
              <a:t>列出人工检查项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CD872-A016-44A7-839E-C5960857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可验收产物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B488CD-74D4-4864-877B-1BC07EF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2324100"/>
            <a:ext cx="26289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B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25519-D183-4A0F-888D-539907C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2590800"/>
            <a:ext cx="2133600" cy="1200150"/>
          </a:xfrm>
          <a:prstGeom xmlns:a="http://schemas.openxmlformats.org/drawingml/2006/main" prst="roundRect">
            <a:avLst>
              <a:gd name="adj" fmla="val 9524"/>
            </a:avLst>
          </a:prstGeom>
          <a:gradFill xmlns:a="http://schemas.openxmlformats.org/drawingml/2006/main">
            <a:gsLst>
              <a:gs pos="0">
                <a:srgbClr val="DBF7FF"/>
              </a:gs>
              <a:gs pos="100000">
                <a:srgbClr val="EEE8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DB395-4192-48B8-9D50-A82878B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876550"/>
            <a:ext cx="800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ECF00-FCEA-4E5C-8B62-3963336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28765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48882B-5A50-450E-8B87-9820AC6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12420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81E84-44D7-4166-9CAA-CE10573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3337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697EE-8952-4A71-A1BA-FA65D613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576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培训需求分析.pptx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71940B-7FE6-40B3-93D7-DE92E7F7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数字可核对 · 结论有依据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不确定信息明确标记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F1E533-E5B3-4B07-87C6-85EF8F2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657850"/>
            <a:ext cx="10972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A80E3-2ADA-413D-9310-255B52A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演示时只观察四件事：上下文｜计划｜工具执行｜人工验收</a:t>
            </a:r>
          </a:p>
        </p:txBody>
      </p:sp>
    </p:spTree>
    <p:extLst>
      <p:ext uri="{BB962C8B-B14F-4D97-AF65-F5344CB8AC3E}">
        <p14:creationId xmlns:p14="http://schemas.microsoft.com/office/powerpoint/2010/main" val="705804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567AA-B4F9-480E-B61D-8CED2250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C5CB4-3800-49EB-A0B9-5B61EB1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岗位不同，任务结构相同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A17C3-6E12-436E-811B-A1CDFF5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86F3E-438F-4B48-8D67-1048012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809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A5A0D-A1A3-4028-BEF3-06D6293D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47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文档工作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D84F9-495F-47E0-96AD-7DECF8BA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D5D59-D4B4-43C7-82F3-0CF62FD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会议记录、制度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3B8C3-FF11-473F-BBA4-4583B41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CF902-2068-4E12-A7D5-DF547E3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纪要、报告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27CD9-E208-48F9-AF22-6C0D2AA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28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同一结构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73E29-3DF3-4047-8F54-B31CB85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33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 → 工具 → 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4EB52-2864-4129-9EBE-3FBB045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7241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D3721-DD12-41D4-8F58-2C1C227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143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BD131-9EF1-44A7-A34D-C02FF362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81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数据工作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9A3AB-9CFC-4CD2-97FE-275400B6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107FB-3B2B-4E99-8574-E5E2EC9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表格、指标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EDC50-0AB1-4055-93F7-A062BF9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A854E-0865-4CD5-81EB-57889C5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分析、图表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7FD06-1ADA-4EEA-B3B9-6134892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B7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B7BFF"/>
                </a:solidFill>
                <a:latin typeface="PingFang SC"/>
                <a:ea typeface="PingFang SC"/>
                <a:cs typeface="PingFang SC"/>
              </a:rPr>
              <a:t>同一结构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BDFC9-C049-461D-A7D3-7C38E40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67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 → 工具 → 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CED74-C9E6-4666-A5F6-39C0648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40576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78F6C-471C-4728-AAE0-4A2B6BD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476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56453-DBC9-4217-B59B-D694C536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14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研发工作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AB3AB-ECDD-4755-87C6-947590D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53D78-B99F-465B-AB9E-7134D980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代码、日志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8B71F-5927-4B26-B804-034C7D6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CF556-278C-4693-8814-93DBF07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00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变更、测试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D126C-3C80-4B5F-BC84-20436B0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95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同一结构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10D45-DD20-4A12-96AE-AE94805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00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 → 工具 → 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74FD0-0D03-465D-B645-A6A165B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53911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9068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D07C6-A464-4EA1-88D9-1A6D1DCC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98154-326E-43A6-B0E6-AE08F6D2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委派任务，不只是写一句提示词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CF2FC-FBB0-4833-8972-D138BC8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B43FD-E299-48E8-AF47-72C2DAB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任务越复杂，越需要把“怎么才算完成”说清楚。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1058-976B-4093-B6D3-63624493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152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7DF00-347B-45EF-B00D-D5D01D6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目标与产物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D7B8B-EF00-46F5-A0D6-60CE42F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最终完成什么？交付报告、表格还是 PPT？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8DDD4-1A74-42BA-A611-EE66E66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28765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047A2-F2CB-4A0D-B617-04C69B2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124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8CCB8-7549-42DA-A940-6A23C8BD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材料与上下文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3CD3D-124D-4FC5-B8D9-7A2072C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参考哪些文件和数据？缺什么必须先询问？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429D9-D667-44D7-A674-1A27BB3C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38481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DCB13-14F1-4D1B-B240-8CB07DC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095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E2FA2-5EBC-42EF-B623-B6B4350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约束与权限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85FA3-95DE-4A71-80AC-AC67D20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不能做什么？允许读取、修改或执行什么？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381EE-7227-4082-BBAB-FEFDA66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48196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52B56-1299-480B-9F9E-4C76C51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067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D0826-CDEF-4A82-BAB0-B431144A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验收与确认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64C6B-9CDE-4FF6-821F-B256BB6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怎样判断结果合格？哪些操作必须人工批准？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8DAF6-3082-47C7-9FC4-E1BCB1A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11125200" cy="457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E6F9FF"/>
              </a:gs>
              <a:gs pos="100000">
                <a:srgbClr val="F0EB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F5E01-3B1C-4B8E-B01B-9DD0432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24575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说清目标 · 给足材料 · 明确边界 · 约定产物 · 设置验收</a:t>
            </a:r>
          </a:p>
        </p:txBody>
      </p:sp>
    </p:spTree>
    <p:extLst>
      <p:ext uri="{BB962C8B-B14F-4D97-AF65-F5344CB8AC3E}">
        <p14:creationId xmlns:p14="http://schemas.microsoft.com/office/powerpoint/2010/main" val="1521956827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11735"/>
            </a:gs>
            <a:gs pos="100000">
              <a:srgbClr val="07111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28CE4-488B-4A67-B985-DA1119F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FC3E8"/>
                </a:solidFill>
                <a:latin typeface="PingFang SC"/>
                <a:ea typeface="PingFang SC"/>
                <a:cs typeface="PingFang SC"/>
              </a:rPr>
              <a:t>AI 工作软件初识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1A711-96D9-4FA7-9A1C-4E492D08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三个判断，检验我们是否真正理解智能体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79850-7976-4AF8-B74A-726F3E68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FA6C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F4CE3-AB5A-401B-ADD4-6616943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733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9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97495-B8EC-4E5C-AC7E-F9DEA78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WorkBuddy 就是一个大模型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8758-DC81-486C-A528-9047364C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错误：它是使用模型、数据和工具构建的 AI 应用。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197D8-CAB9-4B13-9866-FE0C5EA5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71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7AABC-C0B0-4C37-B703-5EC95E6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200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3FE0E-936B-42D8-9798-FF9EF49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模型提出调用工具，就代表拥有权限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B0BD7-9740-4481-82B7-FDF2398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错误：调用意图不等于系统授权。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44294-62DA-4C0D-AE72-71BD406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B68D-E982-4F18-ABCA-D87044A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667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11F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9E107-E573-4566-852C-D3C6DE2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生成了 PPT，就代表任务已经正确完成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26660-7F24-49BA-8155-66A0E31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D0ED"/>
                </a:solidFill>
                <a:latin typeface="PingFang SC"/>
                <a:ea typeface="PingFang SC"/>
                <a:cs typeface="PingFang SC"/>
              </a:rPr>
              <a:t>错误：产物仍需依据和人工验收。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6148D-5B98-4F9C-982F-BC588A9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05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F8A6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8A6B"/>
                </a:solidFill>
                <a:latin typeface="PingFang SC"/>
                <a:ea typeface="PingFang SC"/>
                <a:cs typeface="PingFang SC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44286076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100000">
              <a:srgbClr val="17153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E24C7-313F-4CFE-AFE6-91CA584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A9C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9C7FF"/>
                </a:solidFill>
                <a:latin typeface="PingFang SC"/>
                <a:ea typeface="PingFang SC"/>
                <a:cs typeface="PingFang SC"/>
              </a:rPr>
              <a:t>带走这五句话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99FC5-0E50-4B86-8A7A-CADCCA85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647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理解智能体，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从理解边界开始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FF49E-D167-43AF-B7FF-711B9BA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1C9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1C9F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6481-7E18-4CF7-9655-236B2016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rPr>
              <a:t>大模型是能力引擎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4DB94-3F74-4395-B283-E2980110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B7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B7B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68C7F-3FF5-4792-BD4D-333DBF7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rPr>
              <a:t>上下文决定它能看到什么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8BA09-BAEC-4F47-906E-15BB00CD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D14E0-52CD-411F-8E84-E0F90B6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rPr>
              <a:t>工具让回答走向行动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205AE-2324-421A-8DCF-1555227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8A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8A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651FF-444B-40D5-B0A6-B699AA5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rPr>
              <a:t>循环让任务持续推进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09F1D-17D7-4836-B156-AE47EAA7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2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BCB9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CB9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37A56-2F1E-4C19-8F8B-D42408E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7FA"/>
                </a:solidFill>
                <a:latin typeface="PingFang SC"/>
                <a:ea typeface="PingFang SC"/>
                <a:cs typeface="PingFang SC"/>
              </a:rPr>
              <a:t>人负责目标、权限和验收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84A1C-0A03-447E-8476-1FFD90EC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857250"/>
            <a:ext cx="276225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9F5"/>
              </a:gs>
              <a:gs pos="50000">
                <a:srgbClr val="8B5CF6"/>
              </a:gs>
              <a:gs pos="100000">
                <a:srgbClr val="FF8A6B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8D3EC-76E0-4A9A-8667-2566FD0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FB2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FB2D4"/>
                </a:solidFill>
                <a:latin typeface="PingFang SC"/>
                <a:ea typeface="PingFang SC"/>
                <a:cs typeface="PingFang SC"/>
              </a:rPr>
              <a:t>下一次，我们再深入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FB2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FB2D4"/>
                </a:solidFill>
                <a:latin typeface="PingFang SC"/>
                <a:ea typeface="PingFang SC"/>
                <a:cs typeface="PingFang SC"/>
              </a:rPr>
              <a:t>WorkBuddy 实操、任务设计与安全边界。</a:t>
            </a:r>
          </a:p>
        </p:txBody>
      </p:sp>
    </p:spTree>
    <p:extLst>
      <p:ext uri="{BB962C8B-B14F-4D97-AF65-F5344CB8AC3E}">
        <p14:creationId xmlns:p14="http://schemas.microsoft.com/office/powerpoint/2010/main" val="2112177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2026-08-04T07:41:43.4980000Z</dcterms:created>
  <dcterms:modified xsi:type="dcterms:W3CDTF">2026-08-04T07:41:43.4980000Z</dcterms:modified>
</coreProperties>
</file>